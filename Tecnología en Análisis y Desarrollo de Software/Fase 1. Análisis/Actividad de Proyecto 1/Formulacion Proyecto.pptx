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9850"/>
  <p:notesSz cx="9144000" cy="514985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87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51432" y="1652777"/>
            <a:ext cx="7041134" cy="451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5E5C5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982979" y="2718054"/>
            <a:ext cx="7178040" cy="6648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5E5C5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5E5C5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5E5C5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5E5C5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91965" y="895553"/>
            <a:ext cx="2560954" cy="238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5E5C5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1809" y="2420823"/>
            <a:ext cx="7120381" cy="1092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5E5C5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48547" y="4959502"/>
            <a:ext cx="619125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10" dirty="0">
                <a:solidFill>
                  <a:srgbClr val="7E7E7E"/>
                </a:solidFill>
                <a:latin typeface="Calibri"/>
                <a:cs typeface="Calibri"/>
              </a:rPr>
              <a:t>GC-F-004</a:t>
            </a:r>
            <a:r>
              <a:rPr sz="800" b="1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800" b="1" spc="-5" dirty="0">
                <a:solidFill>
                  <a:srgbClr val="7E7E7E"/>
                </a:solidFill>
                <a:latin typeface="Calibri"/>
                <a:cs typeface="Calibri"/>
              </a:rPr>
              <a:t>V.01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41" y="38674"/>
            <a:ext cx="9131807" cy="514502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12088" y="2175763"/>
            <a:ext cx="2769870" cy="8807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800" b="1" spc="-5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FORMULACIÓN</a:t>
            </a:r>
            <a:r>
              <a:rPr sz="2800" b="1" spc="-105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DE </a:t>
            </a:r>
            <a:r>
              <a:rPr sz="2800" b="1" spc="-62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PROYECTOS</a:t>
            </a:r>
            <a:endParaRPr sz="2800" dirty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E57FE06-D514-86DE-4111-458A4ECDCBFE}"/>
              </a:ext>
            </a:extLst>
          </p:cNvPr>
          <p:cNvSpPr txBox="1"/>
          <p:nvPr/>
        </p:nvSpPr>
        <p:spPr>
          <a:xfrm>
            <a:off x="812088" y="3336925"/>
            <a:ext cx="2499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Laura Barona Saavedra</a:t>
            </a:r>
            <a:br>
              <a:rPr lang="es-MX" dirty="0"/>
            </a:br>
            <a:r>
              <a:rPr lang="es-MX" dirty="0"/>
              <a:t>3235906</a:t>
            </a:r>
            <a:endParaRPr lang="es-CO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48547" y="4959502"/>
            <a:ext cx="619125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10" dirty="0">
                <a:solidFill>
                  <a:srgbClr val="7E7E7E"/>
                </a:solidFill>
                <a:latin typeface="Calibri"/>
                <a:cs typeface="Calibri"/>
              </a:rPr>
              <a:t>GC-F-004</a:t>
            </a:r>
            <a:r>
              <a:rPr sz="800" b="1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800" b="1" spc="-5" dirty="0">
                <a:solidFill>
                  <a:srgbClr val="7E7E7E"/>
                </a:solidFill>
                <a:latin typeface="Calibri"/>
                <a:cs typeface="Calibri"/>
              </a:rPr>
              <a:t>V.01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502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2444" y="2028570"/>
            <a:ext cx="147193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TÍTULO</a:t>
            </a:r>
            <a:r>
              <a:rPr sz="2400" b="1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DEL </a:t>
            </a:r>
            <a:r>
              <a:rPr sz="2400" b="1" spc="-5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Calibri"/>
                <a:cs typeface="Calibri"/>
              </a:rPr>
              <a:t>PROYECTO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2647" y="1770889"/>
            <a:ext cx="990600" cy="48895"/>
          </a:xfrm>
          <a:custGeom>
            <a:avLst/>
            <a:gdLst/>
            <a:ahLst/>
            <a:cxnLst/>
            <a:rect l="l" t="t" r="r" b="b"/>
            <a:pathLst>
              <a:path w="990600" h="48894">
                <a:moveTo>
                  <a:pt x="0" y="0"/>
                </a:moveTo>
                <a:lnTo>
                  <a:pt x="0" y="48766"/>
                </a:lnTo>
                <a:lnTo>
                  <a:pt x="990578" y="48767"/>
                </a:lnTo>
                <a:lnTo>
                  <a:pt x="99057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32557" y="1985436"/>
            <a:ext cx="412077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MX" sz="1800" dirty="0">
                <a:solidFill>
                  <a:schemeClr val="tx1"/>
                </a:solidFill>
              </a:rPr>
              <a:t>Transformación Digital del Sector Inmobiliario: Una Propuesta desde Hogar360</a:t>
            </a:r>
            <a:endParaRPr sz="1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61247" y="4997424"/>
            <a:ext cx="593725" cy="100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55"/>
              </a:lnSpc>
            </a:pPr>
            <a:r>
              <a:rPr sz="800" b="1" spc="-10" dirty="0">
                <a:solidFill>
                  <a:srgbClr val="7E7E7E"/>
                </a:solidFill>
                <a:latin typeface="Calibri"/>
                <a:cs typeface="Calibri"/>
              </a:rPr>
              <a:t>G</a:t>
            </a:r>
            <a:r>
              <a:rPr sz="800" b="1" spc="-20" dirty="0">
                <a:solidFill>
                  <a:srgbClr val="7E7E7E"/>
                </a:solidFill>
                <a:latin typeface="Calibri"/>
                <a:cs typeface="Calibri"/>
              </a:rPr>
              <a:t>C</a:t>
            </a:r>
            <a:r>
              <a:rPr sz="800" b="1" spc="-10" dirty="0">
                <a:solidFill>
                  <a:srgbClr val="7E7E7E"/>
                </a:solidFill>
                <a:latin typeface="Calibri"/>
                <a:cs typeface="Calibri"/>
              </a:rPr>
              <a:t>-F-</a:t>
            </a:r>
            <a:r>
              <a:rPr sz="800" b="1" spc="-5" dirty="0">
                <a:solidFill>
                  <a:srgbClr val="7E7E7E"/>
                </a:solidFill>
                <a:latin typeface="Calibri"/>
                <a:cs typeface="Calibri"/>
              </a:rPr>
              <a:t>004</a:t>
            </a:r>
            <a:r>
              <a:rPr sz="800" b="1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E7E7E"/>
                </a:solidFill>
                <a:latin typeface="Calibri"/>
                <a:cs typeface="Calibri"/>
              </a:rPr>
              <a:t>V</a:t>
            </a:r>
            <a:r>
              <a:rPr sz="800" b="1" spc="-5" dirty="0">
                <a:solidFill>
                  <a:srgbClr val="7E7E7E"/>
                </a:solidFill>
                <a:latin typeface="Calibri"/>
                <a:cs typeface="Calibri"/>
              </a:rPr>
              <a:t>.01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37904" cy="514502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2444" y="2028570"/>
            <a:ext cx="24193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400" b="1" spc="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00" b="1" spc="-1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400" b="1" spc="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ERI</a:t>
            </a:r>
            <a:r>
              <a:rPr sz="2400" b="1" spc="-15" dirty="0">
                <a:solidFill>
                  <a:srgbClr val="FFFFFF"/>
                </a:solidFill>
                <a:latin typeface="Calibri"/>
                <a:cs typeface="Calibri"/>
              </a:rPr>
              <a:t>ZA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400" b="1" spc="5" dirty="0">
                <a:solidFill>
                  <a:srgbClr val="FFFFFF"/>
                </a:solidFill>
                <a:latin typeface="Calibri"/>
                <a:cs typeface="Calibri"/>
              </a:rPr>
              <a:t>IÓ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N  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DEL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Calibri"/>
                <a:cs typeface="Calibri"/>
              </a:rPr>
              <a:t>PROYECTO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2647" y="1770889"/>
            <a:ext cx="990600" cy="48895"/>
          </a:xfrm>
          <a:custGeom>
            <a:avLst/>
            <a:gdLst/>
            <a:ahLst/>
            <a:cxnLst/>
            <a:rect l="l" t="t" r="r" b="b"/>
            <a:pathLst>
              <a:path w="990600" h="48894">
                <a:moveTo>
                  <a:pt x="0" y="0"/>
                </a:moveTo>
                <a:lnTo>
                  <a:pt x="0" y="48766"/>
                </a:lnTo>
                <a:lnTo>
                  <a:pt x="990578" y="48767"/>
                </a:lnTo>
                <a:lnTo>
                  <a:pt x="99057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338320" y="627748"/>
            <a:ext cx="4193033" cy="388952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es-MX" sz="1400" b="1" dirty="0">
                <a:solidFill>
                  <a:schemeClr val="accent6">
                    <a:lumMod val="75000"/>
                  </a:schemeClr>
                </a:solidFill>
              </a:rPr>
              <a:t>¿Qué dificulta actualmente la experiencia de publicar, buscar y reservar viviendas en plataformas inmobiliarias digitales?</a:t>
            </a:r>
          </a:p>
          <a:p>
            <a:r>
              <a:rPr lang="es-MX" sz="1400" dirty="0"/>
              <a:t>En el contexto actual, muchas personas que desean vender o arrendar una vivienda enfrentan procesos lentos, poco transparentes y con poca asistencia técnica o jurídica. Por su parte, los compradores o arrendatarios encuentran portales con información desactualizada, sin garantías de verificación y con una baja personalización en la búsqueda. Todo esto genera </a:t>
            </a:r>
            <a:r>
              <a:rPr lang="es-MX" sz="1400" b="1" dirty="0">
                <a:solidFill>
                  <a:schemeClr val="accent6">
                    <a:lumMod val="75000"/>
                  </a:schemeClr>
                </a:solidFill>
              </a:rPr>
              <a:t>desconfianza, pérdida de tiempo y baja efectividad</a:t>
            </a:r>
            <a:r>
              <a:rPr lang="es-MX" sz="1400" dirty="0"/>
              <a:t> en el cierre de negociaciones inmobiliarias.</a:t>
            </a:r>
          </a:p>
          <a:p>
            <a:endParaRPr lang="es-MX" sz="1400" dirty="0"/>
          </a:p>
          <a:p>
            <a:r>
              <a:rPr lang="es-MX" sz="1400" dirty="0"/>
              <a:t>Esto demuestra una </a:t>
            </a:r>
            <a:r>
              <a:rPr lang="es-MX" sz="1400" b="1" dirty="0">
                <a:solidFill>
                  <a:schemeClr val="accent6">
                    <a:lumMod val="75000"/>
                  </a:schemeClr>
                </a:solidFill>
              </a:rPr>
              <a:t>necesidad urgente de optimizar</a:t>
            </a:r>
            <a:r>
              <a:rPr lang="es-MX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MX" sz="1400" dirty="0"/>
              <a:t>los procesos inmobiliarios mediante el uso de las Tecnologías de la Información y la Comunicación (TIC), garantizando </a:t>
            </a:r>
            <a:r>
              <a:rPr lang="es-MX" sz="1400" b="1" dirty="0">
                <a:solidFill>
                  <a:schemeClr val="accent6">
                    <a:lumMod val="75000"/>
                  </a:schemeClr>
                </a:solidFill>
              </a:rPr>
              <a:t>agilidad, seguridad, trazabilidad y mejor experiencia de usuario</a:t>
            </a:r>
            <a:r>
              <a:rPr lang="es-MX" sz="14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48547" y="4959502"/>
            <a:ext cx="619125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10" dirty="0">
                <a:solidFill>
                  <a:srgbClr val="7E7E7E"/>
                </a:solidFill>
                <a:latin typeface="Calibri"/>
                <a:cs typeface="Calibri"/>
              </a:rPr>
              <a:t>GC-F-004</a:t>
            </a:r>
            <a:r>
              <a:rPr sz="800" b="1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800" b="1" spc="-5" dirty="0">
                <a:solidFill>
                  <a:srgbClr val="7E7E7E"/>
                </a:solidFill>
                <a:latin typeface="Calibri"/>
                <a:cs typeface="Calibri"/>
              </a:rPr>
              <a:t>V.01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502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2444" y="2028570"/>
            <a:ext cx="244665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400" b="1" spc="-3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400" b="1" spc="5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400" b="1" spc="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400" b="1" spc="-1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400" b="1" spc="5" dirty="0">
                <a:solidFill>
                  <a:srgbClr val="FFFFFF"/>
                </a:solidFill>
                <a:latin typeface="Calibri"/>
                <a:cs typeface="Calibri"/>
              </a:rPr>
              <a:t>IÓ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4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DEL  </a:t>
            </a:r>
            <a:r>
              <a:rPr sz="2400" b="1" spc="-25" dirty="0">
                <a:solidFill>
                  <a:srgbClr val="FFFFFF"/>
                </a:solidFill>
                <a:latin typeface="Calibri"/>
                <a:cs typeface="Calibri"/>
              </a:rPr>
              <a:t>PROYECTO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2647" y="1770889"/>
            <a:ext cx="990600" cy="48895"/>
          </a:xfrm>
          <a:custGeom>
            <a:avLst/>
            <a:gdLst/>
            <a:ahLst/>
            <a:cxnLst/>
            <a:rect l="l" t="t" r="r" b="b"/>
            <a:pathLst>
              <a:path w="990600" h="48894">
                <a:moveTo>
                  <a:pt x="0" y="0"/>
                </a:moveTo>
                <a:lnTo>
                  <a:pt x="0" y="48766"/>
                </a:lnTo>
                <a:lnTo>
                  <a:pt x="990578" y="48767"/>
                </a:lnTo>
                <a:lnTo>
                  <a:pt x="99057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474029" y="627748"/>
            <a:ext cx="4035553" cy="388952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es-MX" sz="1400" dirty="0"/>
              <a:t>El proyecto </a:t>
            </a:r>
            <a:r>
              <a:rPr lang="es-MX" sz="1400" b="1" dirty="0">
                <a:solidFill>
                  <a:schemeClr val="accent6">
                    <a:lumMod val="75000"/>
                  </a:schemeClr>
                </a:solidFill>
              </a:rPr>
              <a:t>Hogar360</a:t>
            </a:r>
            <a:r>
              <a:rPr lang="es-MX" sz="1400" dirty="0"/>
              <a:t> se desarrolla </a:t>
            </a:r>
            <a:r>
              <a:rPr lang="es-MX" sz="1400" b="1" dirty="0">
                <a:solidFill>
                  <a:schemeClr val="accent6">
                    <a:lumMod val="75000"/>
                  </a:schemeClr>
                </a:solidFill>
              </a:rPr>
              <a:t>porque existe una necesidad latente de mejorar y digitalizar los procesos inmobiliarios</a:t>
            </a:r>
            <a:r>
              <a:rPr lang="es-MX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MX" sz="1400" dirty="0"/>
              <a:t>en Colombia, especialmente en lo relacionado con la publicación, verificación y reserva de viviendas. El crecimiento del sector inmobiliario y el aumento del acceso a plataformas digitales han evidenciado importantes limitaciones en la experiencia del usuario, la confiabilidad de los datos y la eficiencia operativa.</a:t>
            </a:r>
          </a:p>
          <a:p>
            <a:r>
              <a:rPr lang="es-MX" sz="1400" dirty="0"/>
              <a:t>Este proyecto tiene como </a:t>
            </a:r>
            <a:r>
              <a:rPr lang="es-MX" sz="1400" b="1" dirty="0">
                <a:solidFill>
                  <a:schemeClr val="accent6">
                    <a:lumMod val="75000"/>
                  </a:schemeClr>
                </a:solidFill>
              </a:rPr>
              <a:t>razón de ser</a:t>
            </a:r>
            <a:r>
              <a:rPr lang="es-MX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MX" sz="1400" dirty="0"/>
              <a:t>el brindar una </a:t>
            </a:r>
            <a:r>
              <a:rPr lang="es-MX" sz="1400" b="1" dirty="0">
                <a:solidFill>
                  <a:schemeClr val="accent6">
                    <a:lumMod val="75000"/>
                  </a:schemeClr>
                </a:solidFill>
              </a:rPr>
              <a:t>solución tecnológica integral</a:t>
            </a:r>
            <a:r>
              <a:rPr lang="es-MX" sz="1400" dirty="0"/>
              <a:t>, que combine herramientas ofimáticas, colaborativas y de desarrollo de software para automatizar, centralizar y controlar cada etapa del ciclo inmobiliario. Con ello se busca </a:t>
            </a:r>
            <a:r>
              <a:rPr lang="es-MX" sz="1400" b="1" dirty="0">
                <a:solidFill>
                  <a:schemeClr val="accent6">
                    <a:lumMod val="75000"/>
                  </a:schemeClr>
                </a:solidFill>
              </a:rPr>
              <a:t>agilizar procesos, reducir riesgos, aumentar la confianza de los usuarios y facilitar la trazabilidad de cada acción</a:t>
            </a:r>
            <a:r>
              <a:rPr lang="es-MX" sz="1400" dirty="0"/>
              <a:t>, desde la publicación de una vivienda hasta la reserva y posterior cierre del negocio.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61247" y="4997424"/>
            <a:ext cx="593725" cy="100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55"/>
              </a:lnSpc>
            </a:pPr>
            <a:r>
              <a:rPr sz="800" b="1" spc="-10" dirty="0">
                <a:solidFill>
                  <a:srgbClr val="7E7E7E"/>
                </a:solidFill>
                <a:latin typeface="Calibri"/>
                <a:cs typeface="Calibri"/>
              </a:rPr>
              <a:t>G</a:t>
            </a:r>
            <a:r>
              <a:rPr sz="800" b="1" spc="-20" dirty="0">
                <a:solidFill>
                  <a:srgbClr val="7E7E7E"/>
                </a:solidFill>
                <a:latin typeface="Calibri"/>
                <a:cs typeface="Calibri"/>
              </a:rPr>
              <a:t>C</a:t>
            </a:r>
            <a:r>
              <a:rPr sz="800" b="1" spc="-10" dirty="0">
                <a:solidFill>
                  <a:srgbClr val="7E7E7E"/>
                </a:solidFill>
                <a:latin typeface="Calibri"/>
                <a:cs typeface="Calibri"/>
              </a:rPr>
              <a:t>-F-</a:t>
            </a:r>
            <a:r>
              <a:rPr sz="800" b="1" spc="-5" dirty="0">
                <a:solidFill>
                  <a:srgbClr val="7E7E7E"/>
                </a:solidFill>
                <a:latin typeface="Calibri"/>
                <a:cs typeface="Calibri"/>
              </a:rPr>
              <a:t>004</a:t>
            </a:r>
            <a:r>
              <a:rPr sz="800" b="1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E7E7E"/>
                </a:solidFill>
                <a:latin typeface="Calibri"/>
                <a:cs typeface="Calibri"/>
              </a:rPr>
              <a:t>V</a:t>
            </a:r>
            <a:r>
              <a:rPr sz="800" b="1" spc="-5" dirty="0">
                <a:solidFill>
                  <a:srgbClr val="7E7E7E"/>
                </a:solidFill>
                <a:latin typeface="Calibri"/>
                <a:cs typeface="Calibri"/>
              </a:rPr>
              <a:t>.01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37904" cy="514502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2444" y="2028570"/>
            <a:ext cx="251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OBJETIVO</a:t>
            </a:r>
            <a:r>
              <a:rPr sz="2400" b="1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GENERAL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2647" y="1770889"/>
            <a:ext cx="990600" cy="48895"/>
          </a:xfrm>
          <a:custGeom>
            <a:avLst/>
            <a:gdLst/>
            <a:ahLst/>
            <a:cxnLst/>
            <a:rect l="l" t="t" r="r" b="b"/>
            <a:pathLst>
              <a:path w="990600" h="48894">
                <a:moveTo>
                  <a:pt x="0" y="0"/>
                </a:moveTo>
                <a:lnTo>
                  <a:pt x="0" y="48766"/>
                </a:lnTo>
                <a:lnTo>
                  <a:pt x="990578" y="48767"/>
                </a:lnTo>
                <a:lnTo>
                  <a:pt x="99057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0" y="1659906"/>
            <a:ext cx="3959353" cy="151964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0"/>
              </a:spcBef>
            </a:pPr>
            <a:r>
              <a:rPr lang="es-MX" dirty="0">
                <a:solidFill>
                  <a:schemeClr val="tx1"/>
                </a:solidFill>
              </a:rPr>
              <a:t>Desarrollar una solución digital integral para mejorar y automatizar los procesos inmobiliarios de publicación, verificación y reserva de viviendas, mediante la aplicación de herramientas tecnológicas, ofimáticas y colaborativas, que permitan aumentar la eficiencia, la trazabilidad y la confianza de los usuarios en el entorno digital.</a:t>
            </a:r>
            <a:endParaRPr spc="-15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61247" y="4997424"/>
            <a:ext cx="593725" cy="100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55"/>
              </a:lnSpc>
            </a:pPr>
            <a:r>
              <a:rPr sz="800" b="1" spc="-10" dirty="0">
                <a:solidFill>
                  <a:srgbClr val="7E7E7E"/>
                </a:solidFill>
                <a:latin typeface="Calibri"/>
                <a:cs typeface="Calibri"/>
              </a:rPr>
              <a:t>G</a:t>
            </a:r>
            <a:r>
              <a:rPr sz="800" b="1" spc="-20" dirty="0">
                <a:solidFill>
                  <a:srgbClr val="7E7E7E"/>
                </a:solidFill>
                <a:latin typeface="Calibri"/>
                <a:cs typeface="Calibri"/>
              </a:rPr>
              <a:t>C</a:t>
            </a:r>
            <a:r>
              <a:rPr sz="800" b="1" spc="-10" dirty="0">
                <a:solidFill>
                  <a:srgbClr val="7E7E7E"/>
                </a:solidFill>
                <a:latin typeface="Calibri"/>
                <a:cs typeface="Calibri"/>
              </a:rPr>
              <a:t>-F-</a:t>
            </a:r>
            <a:r>
              <a:rPr sz="800" b="1" spc="-5" dirty="0">
                <a:solidFill>
                  <a:srgbClr val="7E7E7E"/>
                </a:solidFill>
                <a:latin typeface="Calibri"/>
                <a:cs typeface="Calibri"/>
              </a:rPr>
              <a:t>004</a:t>
            </a:r>
            <a:r>
              <a:rPr sz="800" b="1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E7E7E"/>
                </a:solidFill>
                <a:latin typeface="Calibri"/>
                <a:cs typeface="Calibri"/>
              </a:rPr>
              <a:t>V</a:t>
            </a:r>
            <a:r>
              <a:rPr sz="800" b="1" spc="-5" dirty="0">
                <a:solidFill>
                  <a:srgbClr val="7E7E7E"/>
                </a:solidFill>
                <a:latin typeface="Calibri"/>
                <a:cs typeface="Calibri"/>
              </a:rPr>
              <a:t>.01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37904" cy="514502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2444" y="2028570"/>
            <a:ext cx="159766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OBJETIVOS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ÍFI</a:t>
            </a:r>
            <a:r>
              <a:rPr sz="2400" b="1" spc="-2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OS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2647" y="1770889"/>
            <a:ext cx="990600" cy="48895"/>
          </a:xfrm>
          <a:custGeom>
            <a:avLst/>
            <a:gdLst/>
            <a:ahLst/>
            <a:cxnLst/>
            <a:rect l="l" t="t" r="r" b="b"/>
            <a:pathLst>
              <a:path w="990600" h="48894">
                <a:moveTo>
                  <a:pt x="0" y="0"/>
                </a:moveTo>
                <a:lnTo>
                  <a:pt x="0" y="48766"/>
                </a:lnTo>
                <a:lnTo>
                  <a:pt x="990578" y="48767"/>
                </a:lnTo>
                <a:lnTo>
                  <a:pt x="99057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11938" y="569985"/>
            <a:ext cx="4724400" cy="367472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s-MX" sz="1400" b="1" dirty="0">
                <a:solidFill>
                  <a:schemeClr val="accent6">
                    <a:lumMod val="75000"/>
                  </a:schemeClr>
                </a:solidFill>
              </a:rPr>
              <a:t>Identificar y documentar</a:t>
            </a:r>
            <a:r>
              <a:rPr lang="es-MX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MX" sz="1400" dirty="0"/>
              <a:t>los procesos estratégicos, claves y de apoyo del negocio inmobiliario en Hogar360, estableciendo sus entradas, salidas, recursos, documentos y responsables.</a:t>
            </a:r>
          </a:p>
          <a:p>
            <a:r>
              <a:rPr lang="es-MX" sz="1400" b="1" dirty="0">
                <a:solidFill>
                  <a:schemeClr val="accent6">
                    <a:lumMod val="75000"/>
                  </a:schemeClr>
                </a:solidFill>
              </a:rPr>
              <a:t>Analizar las necesidades y expectativas</a:t>
            </a:r>
            <a:r>
              <a:rPr lang="es-MX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MX" sz="1400" dirty="0"/>
              <a:t>de los usuarios (compradores, vendedores y administradores), con el fin de definir requisitos funcionales y no funcionales para la solución digital.</a:t>
            </a:r>
          </a:p>
          <a:p>
            <a:r>
              <a:rPr lang="es-MX" sz="1400" b="1" dirty="0">
                <a:solidFill>
                  <a:schemeClr val="accent6">
                    <a:lumMod val="75000"/>
                  </a:schemeClr>
                </a:solidFill>
              </a:rPr>
              <a:t>Diseñar una arquitectura funcional</a:t>
            </a:r>
            <a:r>
              <a:rPr lang="es-MX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MX" sz="1400" dirty="0"/>
              <a:t>del sistema Hogar360 que integre herramientas ofimáticas, colaborativas y de gestión documental.</a:t>
            </a:r>
          </a:p>
          <a:p>
            <a:r>
              <a:rPr lang="es-MX" sz="1400" b="1" dirty="0">
                <a:solidFill>
                  <a:schemeClr val="accent6">
                    <a:lumMod val="75000"/>
                  </a:schemeClr>
                </a:solidFill>
              </a:rPr>
              <a:t>Desarrollar una propuesta visual</a:t>
            </a:r>
            <a:r>
              <a:rPr lang="es-MX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MX" sz="1400" dirty="0"/>
              <a:t>mediante mapa mental e infografías que resuma los conceptos fundamentales de la ingeniería de requisitos, metodologías de desarrollo y herramientas TIC aplicadas.</a:t>
            </a:r>
          </a:p>
          <a:p>
            <a:r>
              <a:rPr lang="es-MX" sz="1400" b="1" dirty="0">
                <a:solidFill>
                  <a:schemeClr val="accent6">
                    <a:lumMod val="75000"/>
                  </a:schemeClr>
                </a:solidFill>
              </a:rPr>
              <a:t>Evaluar los beneficios y limitaciones</a:t>
            </a:r>
            <a:r>
              <a:rPr lang="es-MX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MX" sz="1400" dirty="0"/>
              <a:t>de las TIC en los procesos definidos, a través de un informe comparativo de fortalezas, oportunidades y mejoras.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48547" y="4959502"/>
            <a:ext cx="619125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10" dirty="0">
                <a:solidFill>
                  <a:srgbClr val="7E7E7E"/>
                </a:solidFill>
                <a:latin typeface="Calibri"/>
                <a:cs typeface="Calibri"/>
              </a:rPr>
              <a:t>GC-F-004</a:t>
            </a:r>
            <a:r>
              <a:rPr sz="800" b="1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800" b="1" spc="-5" dirty="0">
                <a:solidFill>
                  <a:srgbClr val="7E7E7E"/>
                </a:solidFill>
                <a:latin typeface="Calibri"/>
                <a:cs typeface="Calibri"/>
              </a:rPr>
              <a:t>V.01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502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2444" y="2028570"/>
            <a:ext cx="172847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ALCANCE</a:t>
            </a:r>
            <a:r>
              <a:rPr sz="2400" b="1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DEL </a:t>
            </a:r>
            <a:r>
              <a:rPr sz="2400" b="1" spc="-5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Calibri"/>
                <a:cs typeface="Calibri"/>
              </a:rPr>
              <a:t>PROYECTO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2647" y="1770889"/>
            <a:ext cx="990600" cy="48895"/>
          </a:xfrm>
          <a:custGeom>
            <a:avLst/>
            <a:gdLst/>
            <a:ahLst/>
            <a:cxnLst/>
            <a:rect l="l" t="t" r="r" b="b"/>
            <a:pathLst>
              <a:path w="990600" h="48894">
                <a:moveTo>
                  <a:pt x="0" y="0"/>
                </a:moveTo>
                <a:lnTo>
                  <a:pt x="0" y="48766"/>
                </a:lnTo>
                <a:lnTo>
                  <a:pt x="990578" y="48767"/>
                </a:lnTo>
                <a:lnTo>
                  <a:pt x="99057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267200" y="354862"/>
            <a:ext cx="4340353" cy="43204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es-MX" sz="1400" dirty="0"/>
              <a:t>El proyecto </a:t>
            </a:r>
            <a:r>
              <a:rPr lang="es-MX" sz="1400" b="1" dirty="0">
                <a:solidFill>
                  <a:schemeClr val="accent6">
                    <a:lumMod val="75000"/>
                  </a:schemeClr>
                </a:solidFill>
              </a:rPr>
              <a:t>Hogar360</a:t>
            </a:r>
            <a:r>
              <a:rPr lang="es-MX" sz="1400" dirty="0"/>
              <a:t> tiene como propósito diseñar, documentar y desarrollar una solución tecnológica para la gestión de procesos clave en el sector inmobiliario, utilizando herramientas modernas como </a:t>
            </a:r>
            <a:r>
              <a:rPr lang="es-MX" sz="1400" b="1" dirty="0">
                <a:solidFill>
                  <a:schemeClr val="accent6">
                    <a:lumMod val="75000"/>
                  </a:schemeClr>
                </a:solidFill>
              </a:rPr>
              <a:t>Java (</a:t>
            </a:r>
            <a:r>
              <a:rPr lang="es-MX" sz="1400" b="1" dirty="0" err="1">
                <a:solidFill>
                  <a:schemeClr val="accent6">
                    <a:lumMod val="75000"/>
                  </a:schemeClr>
                </a:solidFill>
              </a:rPr>
              <a:t>backend</a:t>
            </a:r>
            <a:r>
              <a:rPr lang="es-MX" sz="1400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s-MX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MX" sz="1400" dirty="0"/>
              <a:t>y </a:t>
            </a:r>
            <a:r>
              <a:rPr lang="es-MX" sz="1400" b="1" dirty="0">
                <a:solidFill>
                  <a:schemeClr val="accent6">
                    <a:lumMod val="75000"/>
                  </a:schemeClr>
                </a:solidFill>
              </a:rPr>
              <a:t>Angular (</a:t>
            </a:r>
            <a:r>
              <a:rPr lang="es-MX" sz="1400" b="1" dirty="0" err="1">
                <a:solidFill>
                  <a:schemeClr val="accent6">
                    <a:lumMod val="75000"/>
                  </a:schemeClr>
                </a:solidFill>
              </a:rPr>
              <a:t>frontend</a:t>
            </a:r>
            <a:r>
              <a:rPr lang="es-MX" sz="1400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s-MX" sz="1400" dirty="0">
                <a:solidFill>
                  <a:schemeClr val="accent6">
                    <a:lumMod val="75000"/>
                  </a:schemeClr>
                </a:solidFill>
              </a:rPr>
              <a:t>. </a:t>
            </a:r>
            <a:r>
              <a:rPr lang="es-MX" sz="1400" dirty="0"/>
              <a:t>Este desarrollo estará basado en el análisis detallado de procesos estratégicos, claves y de apoyo, integrando tecnologías de la información y la comunicación (TIC) para mejorar la eficiencia, transparencia y agilidad en la gestión de bienes inmuebles.</a:t>
            </a:r>
          </a:p>
          <a:p>
            <a:endParaRPr lang="es-MX" sz="1400" dirty="0"/>
          </a:p>
          <a:p>
            <a:r>
              <a:rPr lang="es-MX" sz="1400" b="1" dirty="0">
                <a:solidFill>
                  <a:schemeClr val="accent6">
                    <a:lumMod val="75000"/>
                  </a:schemeClr>
                </a:solidFill>
              </a:rPr>
              <a:t>Limitaciones del proyecto:</a:t>
            </a:r>
            <a:endParaRPr lang="es-MX" sz="1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s-MX" sz="1400" b="1" dirty="0">
                <a:solidFill>
                  <a:schemeClr val="accent6">
                    <a:lumMod val="75000"/>
                  </a:schemeClr>
                </a:solidFill>
              </a:rPr>
              <a:t>Producto</a:t>
            </a:r>
            <a:r>
              <a:rPr lang="es-MX" sz="1400" b="1" dirty="0"/>
              <a:t>:</a:t>
            </a:r>
            <a:r>
              <a:rPr lang="es-MX" sz="1400" dirty="0"/>
              <a:t> Se desarrollará un software funcional de alcance controlado (versión inicial o MVP), centrado en las funcionalidades básicas del sistema.</a:t>
            </a:r>
          </a:p>
          <a:p>
            <a:r>
              <a:rPr lang="es-MX" sz="1400" b="1" dirty="0">
                <a:solidFill>
                  <a:schemeClr val="accent6">
                    <a:lumMod val="75000"/>
                  </a:schemeClr>
                </a:solidFill>
              </a:rPr>
              <a:t>Proceso</a:t>
            </a:r>
            <a:r>
              <a:rPr lang="es-MX" sz="1400" b="1" dirty="0"/>
              <a:t>:</a:t>
            </a:r>
            <a:r>
              <a:rPr lang="es-MX" sz="1400" dirty="0"/>
              <a:t> El desarrollo cubrirá análisis, diseño, implementación y pruebas en un entorno de desarrollo, pero no se incluirá el despliegue en producción comercial.</a:t>
            </a:r>
          </a:p>
          <a:p>
            <a:r>
              <a:rPr lang="es-MX" sz="1400" b="1" dirty="0">
                <a:solidFill>
                  <a:schemeClr val="accent6">
                    <a:lumMod val="75000"/>
                  </a:schemeClr>
                </a:solidFill>
              </a:rPr>
              <a:t>Contexto</a:t>
            </a:r>
            <a:r>
              <a:rPr lang="es-MX" sz="1400" b="1" dirty="0"/>
              <a:t>:</a:t>
            </a:r>
            <a:r>
              <a:rPr lang="es-MX" sz="1400" dirty="0"/>
              <a:t> El proyecto será aplicado en un entorno educativo como modelo de solución tecnológica para el sector inmobiliario, sin contacto con clientes reales.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61247" y="4997424"/>
            <a:ext cx="593725" cy="100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55"/>
              </a:lnSpc>
            </a:pPr>
            <a:r>
              <a:rPr sz="800" b="1" spc="-10" dirty="0">
                <a:solidFill>
                  <a:srgbClr val="7E7E7E"/>
                </a:solidFill>
                <a:latin typeface="Calibri"/>
                <a:cs typeface="Calibri"/>
              </a:rPr>
              <a:t>G</a:t>
            </a:r>
            <a:r>
              <a:rPr sz="800" b="1" spc="-20" dirty="0">
                <a:solidFill>
                  <a:srgbClr val="7E7E7E"/>
                </a:solidFill>
                <a:latin typeface="Calibri"/>
                <a:cs typeface="Calibri"/>
              </a:rPr>
              <a:t>C</a:t>
            </a:r>
            <a:r>
              <a:rPr sz="800" b="1" spc="-10" dirty="0">
                <a:solidFill>
                  <a:srgbClr val="7E7E7E"/>
                </a:solidFill>
                <a:latin typeface="Calibri"/>
                <a:cs typeface="Calibri"/>
              </a:rPr>
              <a:t>-F-</a:t>
            </a:r>
            <a:r>
              <a:rPr sz="800" b="1" spc="-5" dirty="0">
                <a:solidFill>
                  <a:srgbClr val="7E7E7E"/>
                </a:solidFill>
                <a:latin typeface="Calibri"/>
                <a:cs typeface="Calibri"/>
              </a:rPr>
              <a:t>004</a:t>
            </a:r>
            <a:r>
              <a:rPr sz="800" b="1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E7E7E"/>
                </a:solidFill>
                <a:latin typeface="Calibri"/>
                <a:cs typeface="Calibri"/>
              </a:rPr>
              <a:t>V</a:t>
            </a:r>
            <a:r>
              <a:rPr sz="800" b="1" spc="-5" dirty="0">
                <a:solidFill>
                  <a:srgbClr val="7E7E7E"/>
                </a:solidFill>
                <a:latin typeface="Calibri"/>
                <a:cs typeface="Calibri"/>
              </a:rPr>
              <a:t>.01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5875"/>
            <a:ext cx="9137904" cy="514502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2444" y="2028570"/>
            <a:ext cx="24834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BENEFICIARIOS</a:t>
            </a:r>
            <a:r>
              <a:rPr sz="2400" b="1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DEL </a:t>
            </a:r>
            <a:r>
              <a:rPr sz="2400" b="1" spc="-5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Calibri"/>
                <a:cs typeface="Calibri"/>
              </a:rPr>
              <a:t>PROYECTO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2647" y="1770889"/>
            <a:ext cx="990600" cy="48895"/>
          </a:xfrm>
          <a:custGeom>
            <a:avLst/>
            <a:gdLst/>
            <a:ahLst/>
            <a:cxnLst/>
            <a:rect l="l" t="t" r="r" b="b"/>
            <a:pathLst>
              <a:path w="990600" h="48894">
                <a:moveTo>
                  <a:pt x="0" y="0"/>
                </a:moveTo>
                <a:lnTo>
                  <a:pt x="0" y="48766"/>
                </a:lnTo>
                <a:lnTo>
                  <a:pt x="990578" y="48767"/>
                </a:lnTo>
                <a:lnTo>
                  <a:pt x="99057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97502" y="1216316"/>
            <a:ext cx="4063745" cy="238206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El proyecto 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Hogar360</a:t>
            </a:r>
            <a:r>
              <a:rPr lang="es-MX" dirty="0">
                <a:solidFill>
                  <a:schemeClr val="tx1"/>
                </a:solidFill>
              </a:rPr>
              <a:t> está dirigido a:</a:t>
            </a:r>
            <a:br>
              <a:rPr lang="es-MX" dirty="0">
                <a:solidFill>
                  <a:schemeClr val="tx1"/>
                </a:solidFill>
              </a:rPr>
            </a:br>
            <a:br>
              <a:rPr lang="es-MX" dirty="0">
                <a:solidFill>
                  <a:schemeClr val="tx1"/>
                </a:solidFill>
              </a:rPr>
            </a:b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Personas naturales</a:t>
            </a:r>
            <a:r>
              <a:rPr lang="es-MX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MX" dirty="0">
                <a:solidFill>
                  <a:schemeClr val="tx1"/>
                </a:solidFill>
              </a:rPr>
              <a:t>de distintos sexos, edades y niveles socioeconómicos que buscan comprar, vender o arrendar inmuebles de forma ágil y segura.</a:t>
            </a:r>
            <a:br>
              <a:rPr lang="es-MX" dirty="0">
                <a:solidFill>
                  <a:schemeClr val="tx1"/>
                </a:solidFill>
              </a:rPr>
            </a:b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Vendedores particulares</a:t>
            </a:r>
            <a:r>
              <a:rPr lang="es-MX" dirty="0">
                <a:solidFill>
                  <a:schemeClr val="accent6">
                    <a:lumMod val="75000"/>
                  </a:schemeClr>
                </a:solidFill>
              </a:rPr>
              <a:t> y 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agentes inmobiliarios</a:t>
            </a:r>
            <a:r>
              <a:rPr lang="es-MX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MX" dirty="0">
                <a:solidFill>
                  <a:schemeClr val="tx1"/>
                </a:solidFill>
              </a:rPr>
              <a:t>que necesitan una plataforma digital para gestionar sus publicaciones y reservas.</a:t>
            </a:r>
            <a:br>
              <a:rPr lang="es-MX" dirty="0">
                <a:solidFill>
                  <a:schemeClr val="tx1"/>
                </a:solidFill>
              </a:rPr>
            </a:b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Instituciones educativas o inmobiliarias</a:t>
            </a:r>
            <a:r>
              <a:rPr lang="es-MX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MX" dirty="0">
                <a:solidFill>
                  <a:schemeClr val="tx1"/>
                </a:solidFill>
              </a:rPr>
              <a:t>interesadas en aplicar herramientas tecnológicas para optimizar procesos.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61247" y="4997424"/>
            <a:ext cx="593725" cy="100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55"/>
              </a:lnSpc>
            </a:pPr>
            <a:r>
              <a:rPr sz="800" b="1" spc="-10" dirty="0">
                <a:solidFill>
                  <a:srgbClr val="7E7E7E"/>
                </a:solidFill>
                <a:latin typeface="Calibri"/>
                <a:cs typeface="Calibri"/>
              </a:rPr>
              <a:t>G</a:t>
            </a:r>
            <a:r>
              <a:rPr sz="800" b="1" spc="-20" dirty="0">
                <a:solidFill>
                  <a:srgbClr val="7E7E7E"/>
                </a:solidFill>
                <a:latin typeface="Calibri"/>
                <a:cs typeface="Calibri"/>
              </a:rPr>
              <a:t>C</a:t>
            </a:r>
            <a:r>
              <a:rPr sz="800" b="1" spc="-10" dirty="0">
                <a:solidFill>
                  <a:srgbClr val="7E7E7E"/>
                </a:solidFill>
                <a:latin typeface="Calibri"/>
                <a:cs typeface="Calibri"/>
              </a:rPr>
              <a:t>-F-</a:t>
            </a:r>
            <a:r>
              <a:rPr sz="800" b="1" spc="-5" dirty="0">
                <a:solidFill>
                  <a:srgbClr val="7E7E7E"/>
                </a:solidFill>
                <a:latin typeface="Calibri"/>
                <a:cs typeface="Calibri"/>
              </a:rPr>
              <a:t>004</a:t>
            </a:r>
            <a:r>
              <a:rPr sz="800" b="1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E7E7E"/>
                </a:solidFill>
                <a:latin typeface="Calibri"/>
                <a:cs typeface="Calibri"/>
              </a:rPr>
              <a:t>V</a:t>
            </a:r>
            <a:r>
              <a:rPr sz="800" b="1" spc="-5" dirty="0">
                <a:solidFill>
                  <a:srgbClr val="7E7E7E"/>
                </a:solidFill>
                <a:latin typeface="Calibri"/>
                <a:cs typeface="Calibri"/>
              </a:rPr>
              <a:t>.01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37904" cy="514502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2444" y="2028570"/>
            <a:ext cx="1207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400" b="1" spc="-17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400" b="1" spc="-1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400" b="1" spc="-6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2647" y="1770889"/>
            <a:ext cx="990600" cy="48895"/>
          </a:xfrm>
          <a:custGeom>
            <a:avLst/>
            <a:gdLst/>
            <a:ahLst/>
            <a:cxnLst/>
            <a:rect l="l" t="t" r="r" b="b"/>
            <a:pathLst>
              <a:path w="990600" h="48894">
                <a:moveTo>
                  <a:pt x="0" y="0"/>
                </a:moveTo>
                <a:lnTo>
                  <a:pt x="0" y="48766"/>
                </a:lnTo>
                <a:lnTo>
                  <a:pt x="990578" y="48767"/>
                </a:lnTo>
                <a:lnTo>
                  <a:pt x="99057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291965" y="984836"/>
            <a:ext cx="4239388" cy="281230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endParaRPr lang="es-MX" sz="14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s-MX" sz="1400" b="1" dirty="0">
                <a:solidFill>
                  <a:schemeClr val="accent6">
                    <a:lumMod val="75000"/>
                  </a:schemeClr>
                </a:solidFill>
              </a:rPr>
              <a:t>Social</a:t>
            </a:r>
            <a:r>
              <a:rPr lang="es-MX" sz="1400" dirty="0"/>
              <a:t>: Mejora la experiencia de compra, venta y arriendo de viviendas, promoviendo la confianza, transparencia y agilidad en los procesos inmobiliarios.</a:t>
            </a:r>
          </a:p>
          <a:p>
            <a:endParaRPr lang="es-MX" sz="1400" dirty="0"/>
          </a:p>
          <a:p>
            <a:r>
              <a:rPr lang="es-MX" sz="1400" b="1" dirty="0">
                <a:solidFill>
                  <a:schemeClr val="accent6">
                    <a:lumMod val="75000"/>
                  </a:schemeClr>
                </a:solidFill>
              </a:rPr>
              <a:t>Económico</a:t>
            </a:r>
            <a:r>
              <a:rPr lang="es-MX" sz="1400" dirty="0"/>
              <a:t>: Reduce costos operativos para vendedores y facilita el acceso a opciones habitacionales, beneficiando tanto a usuarios como a pequeños negocios del sector.</a:t>
            </a:r>
          </a:p>
          <a:p>
            <a:endParaRPr lang="es-MX" sz="1400" dirty="0"/>
          </a:p>
          <a:p>
            <a:r>
              <a:rPr lang="es-MX" sz="1400" b="1" dirty="0">
                <a:solidFill>
                  <a:schemeClr val="accent6">
                    <a:lumMod val="75000"/>
                  </a:schemeClr>
                </a:solidFill>
              </a:rPr>
              <a:t>Tecnológico</a:t>
            </a:r>
            <a:r>
              <a:rPr lang="es-MX" sz="1400" dirty="0"/>
              <a:t>: Promueve la apropiación de herramientas digitales modernas (Java, Angular) que optimizan procesos, integran funcionalidades clave y aumentan la eficiencia operativa.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48547" y="4959502"/>
            <a:ext cx="619125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10" dirty="0">
                <a:solidFill>
                  <a:srgbClr val="7E7E7E"/>
                </a:solidFill>
                <a:latin typeface="Calibri"/>
                <a:cs typeface="Calibri"/>
              </a:rPr>
              <a:t>GC-F-004</a:t>
            </a:r>
            <a:r>
              <a:rPr sz="800" b="1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800" b="1" spc="-5" dirty="0">
                <a:solidFill>
                  <a:srgbClr val="7E7E7E"/>
                </a:solidFill>
                <a:latin typeface="Calibri"/>
                <a:cs typeface="Calibri"/>
              </a:rPr>
              <a:t>V.01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46764"/>
            <a:ext cx="9143999" cy="514502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2444" y="2028570"/>
            <a:ext cx="19913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RESTRICCIONES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2647" y="1770889"/>
            <a:ext cx="990600" cy="48895"/>
          </a:xfrm>
          <a:custGeom>
            <a:avLst/>
            <a:gdLst/>
            <a:ahLst/>
            <a:cxnLst/>
            <a:rect l="l" t="t" r="r" b="b"/>
            <a:pathLst>
              <a:path w="990600" h="48894">
                <a:moveTo>
                  <a:pt x="0" y="0"/>
                </a:moveTo>
                <a:lnTo>
                  <a:pt x="0" y="48766"/>
                </a:lnTo>
                <a:lnTo>
                  <a:pt x="990578" y="48767"/>
                </a:lnTo>
                <a:lnTo>
                  <a:pt x="99057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04105" y="713358"/>
            <a:ext cx="4044442" cy="34586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br>
              <a:rPr lang="es-MX" b="1" dirty="0">
                <a:solidFill>
                  <a:schemeClr val="tx1"/>
                </a:solidFill>
              </a:rPr>
            </a:b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Tiempo</a:t>
            </a:r>
            <a:r>
              <a:rPr lang="es-MX" dirty="0">
                <a:solidFill>
                  <a:schemeClr val="tx1"/>
                </a:solidFill>
              </a:rPr>
              <a:t>: El desarrollo del sistema debe completarse en un plazo limitado establecido por el cronograma académico, ajustado a las fases de diseño, implementación y validación.</a:t>
            </a:r>
            <a:br>
              <a:rPr lang="es-MX" dirty="0">
                <a:solidFill>
                  <a:schemeClr val="tx1"/>
                </a:solidFill>
              </a:rPr>
            </a:br>
            <a:br>
              <a:rPr lang="es-MX" dirty="0">
                <a:solidFill>
                  <a:schemeClr val="tx1"/>
                </a:solidFill>
              </a:rPr>
            </a:b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Costo</a:t>
            </a:r>
            <a:r>
              <a:rPr lang="es-MX" dirty="0">
                <a:solidFill>
                  <a:schemeClr val="tx1"/>
                </a:solidFill>
              </a:rPr>
              <a:t>: El proyecto se desarrollará sin financiación externa, utilizando únicamente recursos gratuitos, institucionales o propios del equipo (software libre, servicios gratuitos, etc.).</a:t>
            </a:r>
            <a:br>
              <a:rPr lang="es-MX" dirty="0">
                <a:solidFill>
                  <a:schemeClr val="tx1"/>
                </a:solidFill>
              </a:rPr>
            </a:br>
            <a:br>
              <a:rPr lang="es-MX" dirty="0">
                <a:solidFill>
                  <a:schemeClr val="tx1"/>
                </a:solidFill>
              </a:rPr>
            </a:b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Alcance</a:t>
            </a:r>
            <a:r>
              <a:rPr lang="es-MX" dirty="0">
                <a:solidFill>
                  <a:schemeClr val="tx1"/>
                </a:solidFill>
              </a:rPr>
              <a:t>: El sistema cubrirá únicamente los procesos principales de la plataforma Hogar360: publicación de casas, gestión de reservas y usuarios, sin incluir funcionalidades complejas como pasarelas de pago o integraciones con terceros.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61247" y="4997424"/>
            <a:ext cx="593725" cy="100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55"/>
              </a:lnSpc>
            </a:pPr>
            <a:r>
              <a:rPr sz="800" b="1" spc="-10" dirty="0">
                <a:solidFill>
                  <a:srgbClr val="7E7E7E"/>
                </a:solidFill>
                <a:latin typeface="Calibri"/>
                <a:cs typeface="Calibri"/>
              </a:rPr>
              <a:t>G</a:t>
            </a:r>
            <a:r>
              <a:rPr sz="800" b="1" spc="-20" dirty="0">
                <a:solidFill>
                  <a:srgbClr val="7E7E7E"/>
                </a:solidFill>
                <a:latin typeface="Calibri"/>
                <a:cs typeface="Calibri"/>
              </a:rPr>
              <a:t>C</a:t>
            </a:r>
            <a:r>
              <a:rPr sz="800" b="1" spc="-10" dirty="0">
                <a:solidFill>
                  <a:srgbClr val="7E7E7E"/>
                </a:solidFill>
                <a:latin typeface="Calibri"/>
                <a:cs typeface="Calibri"/>
              </a:rPr>
              <a:t>-F-</a:t>
            </a:r>
            <a:r>
              <a:rPr sz="800" b="1" spc="-5" dirty="0">
                <a:solidFill>
                  <a:srgbClr val="7E7E7E"/>
                </a:solidFill>
                <a:latin typeface="Calibri"/>
                <a:cs typeface="Calibri"/>
              </a:rPr>
              <a:t>004</a:t>
            </a:r>
            <a:r>
              <a:rPr sz="800" b="1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E7E7E"/>
                </a:solidFill>
                <a:latin typeface="Calibri"/>
                <a:cs typeface="Calibri"/>
              </a:rPr>
              <a:t>V</a:t>
            </a:r>
            <a:r>
              <a:rPr sz="800" b="1" spc="-5" dirty="0">
                <a:solidFill>
                  <a:srgbClr val="7E7E7E"/>
                </a:solidFill>
                <a:latin typeface="Calibri"/>
                <a:cs typeface="Calibri"/>
              </a:rPr>
              <a:t>.01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37904" cy="514502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2444" y="2028570"/>
            <a:ext cx="1114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00" b="1" spc="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SG</a:t>
            </a:r>
            <a:r>
              <a:rPr sz="2400" b="1" spc="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2647" y="1770889"/>
            <a:ext cx="990600" cy="48895"/>
          </a:xfrm>
          <a:custGeom>
            <a:avLst/>
            <a:gdLst/>
            <a:ahLst/>
            <a:cxnLst/>
            <a:rect l="l" t="t" r="r" b="b"/>
            <a:pathLst>
              <a:path w="990600" h="48894">
                <a:moveTo>
                  <a:pt x="0" y="0"/>
                </a:moveTo>
                <a:lnTo>
                  <a:pt x="0" y="48766"/>
                </a:lnTo>
                <a:lnTo>
                  <a:pt x="990578" y="48767"/>
                </a:lnTo>
                <a:lnTo>
                  <a:pt x="99057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109910" y="473575"/>
            <a:ext cx="4648199" cy="410561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Inexperiencia con las tecnologías empleadas</a:t>
            </a:r>
            <a:r>
              <a:rPr lang="es-MX" dirty="0"/>
              <a:t>: </a:t>
            </a:r>
            <a:r>
              <a:rPr lang="es-MX" dirty="0">
                <a:solidFill>
                  <a:schemeClr val="tx1"/>
                </a:solidFill>
              </a:rPr>
              <a:t>El uso de herramientas como Java y Angular puede presentar dificultades si no se dominan completamente, afectando los tiempos de desarrollo.</a:t>
            </a:r>
            <a:br>
              <a:rPr lang="es-MX" dirty="0">
                <a:solidFill>
                  <a:schemeClr val="tx1"/>
                </a:solidFill>
              </a:rPr>
            </a:b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Falta de recursos técnicos confiables</a:t>
            </a:r>
            <a:r>
              <a:rPr lang="es-MX" dirty="0">
                <a:solidFill>
                  <a:schemeClr val="tx1"/>
                </a:solidFill>
              </a:rPr>
              <a:t>: La dependencia de software, documentación o servicios de terceros puede generar retrasos si no están disponibles o presentan fallas.</a:t>
            </a:r>
            <a:br>
              <a:rPr lang="es-MX" dirty="0">
                <a:solidFill>
                  <a:schemeClr val="tx1"/>
                </a:solidFill>
              </a:rPr>
            </a:b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Sobrecarga de actividades</a:t>
            </a:r>
            <a:r>
              <a:rPr lang="es-MX" dirty="0">
                <a:solidFill>
                  <a:schemeClr val="tx1"/>
                </a:solidFill>
              </a:rPr>
              <a:t>: La gestión simultánea de fases como análisis, desarrollo, pruebas y documentación puede dificultar el cumplimiento eficiente de los plazos establecidos.</a:t>
            </a:r>
            <a:br>
              <a:rPr lang="es-MX" dirty="0">
                <a:solidFill>
                  <a:schemeClr val="tx1"/>
                </a:solidFill>
              </a:rPr>
            </a:b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Fallas en servicios básicos</a:t>
            </a:r>
            <a:r>
              <a:rPr lang="es-MX" dirty="0">
                <a:solidFill>
                  <a:schemeClr val="tx1"/>
                </a:solidFill>
              </a:rPr>
              <a:t>: Cortes de electricidad, fallas de conexión a internet o problemas con los equipos pueden interrumpir el flujo de trabajo.</a:t>
            </a:r>
            <a:br>
              <a:rPr lang="es-MX" dirty="0">
                <a:solidFill>
                  <a:schemeClr val="tx1"/>
                </a:solidFill>
              </a:rPr>
            </a:b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Cambios en requerimientos o lineamientos</a:t>
            </a:r>
            <a:r>
              <a:rPr lang="es-MX" dirty="0">
                <a:solidFill>
                  <a:schemeClr val="tx1"/>
                </a:solidFill>
              </a:rPr>
              <a:t>: Modificaciones por parte de la institución o el entorno académico pueden implicar ajustes en el alcance o rediseño parcial del sistema.</a:t>
            </a:r>
            <a:br>
              <a:rPr lang="es-MX" dirty="0">
                <a:solidFill>
                  <a:schemeClr val="tx1"/>
                </a:solidFill>
              </a:rPr>
            </a:b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Riesgos externos e imprevistos</a:t>
            </a:r>
            <a:r>
              <a:rPr lang="es-MX" dirty="0">
                <a:solidFill>
                  <a:schemeClr val="tx1"/>
                </a:solidFill>
              </a:rPr>
              <a:t>: Factores climáticos, fallos técnicos no previstos o limitaciones logísticas pueden afectar el desarrollo del proyecto.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61247" y="4997424"/>
            <a:ext cx="593725" cy="100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55"/>
              </a:lnSpc>
            </a:pPr>
            <a:r>
              <a:rPr sz="800" b="1" spc="-10" dirty="0">
                <a:solidFill>
                  <a:srgbClr val="7E7E7E"/>
                </a:solidFill>
                <a:latin typeface="Calibri"/>
                <a:cs typeface="Calibri"/>
              </a:rPr>
              <a:t>G</a:t>
            </a:r>
            <a:r>
              <a:rPr sz="800" b="1" spc="-20" dirty="0">
                <a:solidFill>
                  <a:srgbClr val="7E7E7E"/>
                </a:solidFill>
                <a:latin typeface="Calibri"/>
                <a:cs typeface="Calibri"/>
              </a:rPr>
              <a:t>C</a:t>
            </a:r>
            <a:r>
              <a:rPr sz="800" b="1" spc="-10" dirty="0">
                <a:solidFill>
                  <a:srgbClr val="7E7E7E"/>
                </a:solidFill>
                <a:latin typeface="Calibri"/>
                <a:cs typeface="Calibri"/>
              </a:rPr>
              <a:t>-F-</a:t>
            </a:r>
            <a:r>
              <a:rPr sz="800" b="1" spc="-5" dirty="0">
                <a:solidFill>
                  <a:srgbClr val="7E7E7E"/>
                </a:solidFill>
                <a:latin typeface="Calibri"/>
                <a:cs typeface="Calibri"/>
              </a:rPr>
              <a:t>004</a:t>
            </a:r>
            <a:r>
              <a:rPr sz="800" b="1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E7E7E"/>
                </a:solidFill>
                <a:latin typeface="Calibri"/>
                <a:cs typeface="Calibri"/>
              </a:rPr>
              <a:t>V</a:t>
            </a:r>
            <a:r>
              <a:rPr sz="800" b="1" spc="-5" dirty="0">
                <a:solidFill>
                  <a:srgbClr val="7E7E7E"/>
                </a:solidFill>
                <a:latin typeface="Calibri"/>
                <a:cs typeface="Calibri"/>
              </a:rPr>
              <a:t>.01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37904" cy="514502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2444" y="2028570"/>
            <a:ext cx="18827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solidFill>
                  <a:srgbClr val="FFFFFF"/>
                </a:solidFill>
                <a:latin typeface="Calibri"/>
                <a:cs typeface="Calibri"/>
              </a:rPr>
              <a:t>PRODUCTOS</a:t>
            </a:r>
            <a:r>
              <a:rPr sz="24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O </a:t>
            </a:r>
            <a:r>
              <a:rPr sz="2400" b="1" spc="-5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45" dirty="0">
                <a:solidFill>
                  <a:srgbClr val="FFFFFF"/>
                </a:solidFill>
                <a:latin typeface="Calibri"/>
                <a:cs typeface="Calibri"/>
              </a:rPr>
              <a:t>RESULTADOS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2647" y="1770889"/>
            <a:ext cx="990600" cy="48895"/>
          </a:xfrm>
          <a:custGeom>
            <a:avLst/>
            <a:gdLst/>
            <a:ahLst/>
            <a:cxnLst/>
            <a:rect l="l" t="t" r="r" b="b"/>
            <a:pathLst>
              <a:path w="990600" h="48894">
                <a:moveTo>
                  <a:pt x="0" y="0"/>
                </a:moveTo>
                <a:lnTo>
                  <a:pt x="0" y="48766"/>
                </a:lnTo>
                <a:lnTo>
                  <a:pt x="990578" y="48767"/>
                </a:lnTo>
                <a:lnTo>
                  <a:pt x="99057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43400" y="551182"/>
            <a:ext cx="4031990" cy="400494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0"/>
              </a:spcBef>
            </a:pPr>
            <a:r>
              <a:rPr lang="es-MX" sz="1400" b="1" spc="-5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Documento de requisitos del sistema</a:t>
            </a:r>
          </a:p>
          <a:p>
            <a:pPr marL="12700" marR="5080" algn="just">
              <a:lnSpc>
                <a:spcPct val="100000"/>
              </a:lnSpc>
              <a:spcBef>
                <a:spcPts val="90"/>
              </a:spcBef>
            </a:pPr>
            <a:r>
              <a:rPr lang="es-MX" sz="1400" spc="-5" dirty="0">
                <a:latin typeface="Calibri"/>
                <a:cs typeface="Calibri"/>
              </a:rPr>
              <a:t>Resultado del levantamiento, análisis y validación de requisitos funcionales y no funcionales para Hogar360.</a:t>
            </a:r>
          </a:p>
          <a:p>
            <a:pPr marL="12700" marR="5080" algn="just">
              <a:lnSpc>
                <a:spcPct val="100000"/>
              </a:lnSpc>
              <a:spcBef>
                <a:spcPts val="90"/>
              </a:spcBef>
            </a:pPr>
            <a:r>
              <a:rPr lang="es-MX" sz="1400" b="1" spc="-5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Diseño técnico del sistema</a:t>
            </a:r>
          </a:p>
          <a:p>
            <a:pPr marL="12700" marR="5080" algn="just">
              <a:lnSpc>
                <a:spcPct val="100000"/>
              </a:lnSpc>
              <a:spcBef>
                <a:spcPts val="90"/>
              </a:spcBef>
            </a:pPr>
            <a:r>
              <a:rPr lang="es-MX" sz="1400" spc="-5" dirty="0">
                <a:latin typeface="Calibri"/>
                <a:cs typeface="Calibri"/>
              </a:rPr>
              <a:t>Incluye diagramas UML (casos de uso, clases y componentes) y la arquitectura propuesta en Java (</a:t>
            </a:r>
            <a:r>
              <a:rPr lang="es-MX" sz="1400" spc="-5" dirty="0" err="1">
                <a:latin typeface="Calibri"/>
                <a:cs typeface="Calibri"/>
              </a:rPr>
              <a:t>backend</a:t>
            </a:r>
            <a:r>
              <a:rPr lang="es-MX" sz="1400" spc="-5" dirty="0">
                <a:latin typeface="Calibri"/>
                <a:cs typeface="Calibri"/>
              </a:rPr>
              <a:t>) y Angular (</a:t>
            </a:r>
            <a:r>
              <a:rPr lang="es-MX" sz="1400" spc="-5" dirty="0" err="1">
                <a:latin typeface="Calibri"/>
                <a:cs typeface="Calibri"/>
              </a:rPr>
              <a:t>frontend</a:t>
            </a:r>
            <a:r>
              <a:rPr lang="es-MX" sz="1400" spc="-5" dirty="0">
                <a:latin typeface="Calibri"/>
                <a:cs typeface="Calibri"/>
              </a:rPr>
              <a:t>).</a:t>
            </a:r>
          </a:p>
          <a:p>
            <a:pPr marL="12700" marR="5080" algn="just">
              <a:lnSpc>
                <a:spcPct val="100000"/>
              </a:lnSpc>
              <a:spcBef>
                <a:spcPts val="90"/>
              </a:spcBef>
            </a:pPr>
            <a:r>
              <a:rPr lang="es-MX" sz="1400" b="1" spc="-5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Desarrollo de un módulo funcional de Hogar360</a:t>
            </a:r>
          </a:p>
          <a:p>
            <a:pPr marL="12700" marR="5080" algn="just">
              <a:lnSpc>
                <a:spcPct val="100000"/>
              </a:lnSpc>
              <a:spcBef>
                <a:spcPts val="90"/>
              </a:spcBef>
            </a:pPr>
            <a:r>
              <a:rPr lang="es-MX" sz="1400" spc="-5" dirty="0">
                <a:latin typeface="Calibri"/>
                <a:cs typeface="Calibri"/>
              </a:rPr>
              <a:t>Construcción de una o varias funcionalidades clave, como el registro de viviendas, gestión de reservas o publicación en el portal.</a:t>
            </a:r>
          </a:p>
          <a:p>
            <a:pPr marL="12700" marR="5080" algn="just">
              <a:lnSpc>
                <a:spcPct val="100000"/>
              </a:lnSpc>
              <a:spcBef>
                <a:spcPts val="90"/>
              </a:spcBef>
            </a:pPr>
            <a:r>
              <a:rPr lang="es-MX" sz="1400" b="1" spc="-5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Pruebas y validación de funcionalidades</a:t>
            </a:r>
          </a:p>
          <a:p>
            <a:pPr marL="12700" marR="5080" algn="just">
              <a:lnSpc>
                <a:spcPct val="100000"/>
              </a:lnSpc>
              <a:spcBef>
                <a:spcPts val="90"/>
              </a:spcBef>
            </a:pPr>
            <a:r>
              <a:rPr lang="es-MX" sz="1400" spc="-5" dirty="0">
                <a:latin typeface="Calibri"/>
                <a:cs typeface="Calibri"/>
              </a:rPr>
              <a:t>Registro de pruebas unitarias y ajustes realizados según retroalimentación.</a:t>
            </a:r>
          </a:p>
          <a:p>
            <a:pPr marL="12700" marR="5080" algn="just">
              <a:lnSpc>
                <a:spcPct val="100000"/>
              </a:lnSpc>
              <a:spcBef>
                <a:spcPts val="90"/>
              </a:spcBef>
            </a:pPr>
            <a:r>
              <a:rPr lang="es-MX" sz="1400" b="1" spc="-5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Informe final del proyecto</a:t>
            </a:r>
          </a:p>
          <a:p>
            <a:pPr marL="12700" marR="5080" algn="just">
              <a:lnSpc>
                <a:spcPct val="100000"/>
              </a:lnSpc>
              <a:spcBef>
                <a:spcPts val="90"/>
              </a:spcBef>
            </a:pPr>
            <a:r>
              <a:rPr lang="es-MX" sz="1400" spc="-5" dirty="0">
                <a:latin typeface="Calibri"/>
                <a:cs typeface="Calibri"/>
              </a:rPr>
              <a:t>Documento que sintetiza el proceso, los resultados obtenidos, evidencias, recursos usados y análisis del impacto.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48547" y="4959502"/>
            <a:ext cx="619125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10" dirty="0">
                <a:solidFill>
                  <a:srgbClr val="7E7E7E"/>
                </a:solidFill>
                <a:latin typeface="Calibri"/>
                <a:cs typeface="Calibri"/>
              </a:rPr>
              <a:t>GC-F-004</a:t>
            </a:r>
            <a:r>
              <a:rPr sz="800" b="1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800" b="1" spc="-5" dirty="0">
                <a:solidFill>
                  <a:srgbClr val="7E7E7E"/>
                </a:solidFill>
                <a:latin typeface="Calibri"/>
                <a:cs typeface="Calibri"/>
              </a:rPr>
              <a:t>V.01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50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Words>1238</Words>
  <Application>Microsoft Office PowerPoint</Application>
  <PresentationFormat>Personalizado</PresentationFormat>
  <Paragraphs>64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FORMULACIÓN DE  PROYECTOS</vt:lpstr>
      <vt:lpstr>Transformación Digital del Sector Inmobiliario: Una Propuesta desde Hogar360</vt:lpstr>
      <vt:lpstr>Presentación de PowerPoint</vt:lpstr>
      <vt:lpstr>JUSTIFICACIÓN DEL  PROYECTO</vt:lpstr>
      <vt:lpstr>Desarrollar una solución digital integral para mejorar y automatizar los procesos inmobiliarios de publicación, verificación y reserva de viviendas, mediante la aplicación de herramientas tecnológicas, ofimáticas y colaborativas, que permitan aumentar la eficiencia, la trazabilidad y la confianza de los usuarios en el entorno digital.</vt:lpstr>
      <vt:lpstr>Presentación de PowerPoint</vt:lpstr>
      <vt:lpstr>ALCANCE DEL  PROYECTO</vt:lpstr>
      <vt:lpstr>El proyecto Hogar360 está dirigido a:  Personas naturales de distintos sexos, edades y niveles socioeconómicos que buscan comprar, vender o arrendar inmuebles de forma ágil y segura. Vendedores particulares y agentes inmobiliarios que necesitan una plataforma digital para gestionar sus publicaciones y reservas. Instituciones educativas o inmobiliarias interesadas en aplicar herramientas tecnológicas para optimizar procesos.</vt:lpstr>
      <vt:lpstr>Presentación de PowerPoint</vt:lpstr>
      <vt:lpstr> Tiempo: El desarrollo del sistema debe completarse en un plazo limitado establecido por el cronograma académico, ajustado a las fases de diseño, implementación y validación.  Costo: El proyecto se desarrollará sin financiación externa, utilizando únicamente recursos gratuitos, institucionales o propios del equipo (software libre, servicios gratuitos, etc.).  Alcance: El sistema cubrirá únicamente los procesos principales de la plataforma Hogar360: publicación de casas, gestión de reservas y usuarios, sin incluir funcionalidades complejas como pasarelas de pago o integraciones con terceros.</vt:lpstr>
      <vt:lpstr>Inexperiencia con las tecnologías empleadas: El uso de herramientas como Java y Angular puede presentar dificultades si no se dominan completamente, afectando los tiempos de desarrollo. Falta de recursos técnicos confiables: La dependencia de software, documentación o servicios de terceros puede generar retrasos si no están disponibles o presentan fallas. Sobrecarga de actividades: La gestión simultánea de fases como análisis, desarrollo, pruebas y documentación puede dificultar el cumplimiento eficiente de los plazos establecidos. Fallas en servicios básicos: Cortes de electricidad, fallas de conexión a internet o problemas con los equipos pueden interrumpir el flujo de trabajo. Cambios en requerimientos o lineamientos: Modificaciones por parte de la institución o el entorno académico pueden implicar ajustes en el alcance o rediseño parcial del sistema. Riesgos externos e imprevistos: Factores climáticos, fallos técnicos no previstos o limitaciones logísticas pueden afectar el desarrollo del proyecto.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Administrador</dc:creator>
  <cp:lastModifiedBy>Laura Barona Saavedra</cp:lastModifiedBy>
  <cp:revision>12</cp:revision>
  <dcterms:created xsi:type="dcterms:W3CDTF">2023-06-28T23:49:58Z</dcterms:created>
  <dcterms:modified xsi:type="dcterms:W3CDTF">2025-08-04T02:34:12Z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2017-11-17T00:00:00Z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2023-06-28T00:00:00Z</vt:filetime>
  </property>
</Properties>
</file>